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8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81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8"/>
    <p:sldId id="279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B2BFF-A4A6-46B4-A995-84D46E132604}" v="1" dt="2025-11-25T21:06:51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Wilson" userId="3ecb67d9-42dd-467e-959f-f623d5b72f7a" providerId="ADAL" clId="{5E72509D-1C6B-49EB-8D26-ED97B37C2622}"/>
    <pc:docChg chg="custSel addSld modSld">
      <pc:chgData name="Richard Wilson" userId="3ecb67d9-42dd-467e-959f-f623d5b72f7a" providerId="ADAL" clId="{5E72509D-1C6B-49EB-8D26-ED97B37C2622}" dt="2025-11-25T21:06:51.256" v="10" actId="27636"/>
      <pc:docMkLst>
        <pc:docMk/>
      </pc:docMkLst>
      <pc:sldChg chg="modSp mod">
        <pc:chgData name="Richard Wilson" userId="3ecb67d9-42dd-467e-959f-f623d5b72f7a" providerId="ADAL" clId="{5E72509D-1C6B-49EB-8D26-ED97B37C2622}" dt="2025-11-25T21:06:51.238" v="9" actId="27636"/>
        <pc:sldMkLst>
          <pc:docMk/>
          <pc:sldMk cId="0" sldId="259"/>
        </pc:sldMkLst>
        <pc:spChg chg="mod">
          <ac:chgData name="Richard Wilson" userId="3ecb67d9-42dd-467e-959f-f623d5b72f7a" providerId="ADAL" clId="{5E72509D-1C6B-49EB-8D26-ED97B37C2622}" dt="2025-11-25T21:06:51.238" v="9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chard Wilson" userId="3ecb67d9-42dd-467e-959f-f623d5b72f7a" providerId="ADAL" clId="{5E72509D-1C6B-49EB-8D26-ED97B37C2622}" dt="2025-11-25T21:06:51.237" v="8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ichard Wilson" userId="3ecb67d9-42dd-467e-959f-f623d5b72f7a" providerId="ADAL" clId="{5E72509D-1C6B-49EB-8D26-ED97B37C2622}" dt="2025-11-25T21:06:51.256" v="10" actId="27636"/>
        <pc:sldMkLst>
          <pc:docMk/>
          <pc:sldMk cId="0" sldId="264"/>
        </pc:sldMkLst>
        <pc:spChg chg="mod">
          <ac:chgData name="Richard Wilson" userId="3ecb67d9-42dd-467e-959f-f623d5b72f7a" providerId="ADAL" clId="{5E72509D-1C6B-49EB-8D26-ED97B37C2622}" dt="2025-11-25T21:06:51.256" v="10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ichard Wilson" userId="3ecb67d9-42dd-467e-959f-f623d5b72f7a" providerId="ADAL" clId="{5E72509D-1C6B-49EB-8D26-ED97B37C2622}" dt="2025-11-25T21:06:51.198" v="3" actId="27636"/>
        <pc:sldMkLst>
          <pc:docMk/>
          <pc:sldMk cId="0" sldId="268"/>
        </pc:sldMkLst>
        <pc:spChg chg="mod">
          <ac:chgData name="Richard Wilson" userId="3ecb67d9-42dd-467e-959f-f623d5b72f7a" providerId="ADAL" clId="{5E72509D-1C6B-49EB-8D26-ED97B37C2622}" dt="2025-11-25T21:06:51.198" v="3" actId="2763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Richard Wilson" userId="3ecb67d9-42dd-467e-959f-f623d5b72f7a" providerId="ADAL" clId="{5E72509D-1C6B-49EB-8D26-ED97B37C2622}" dt="2025-11-25T21:06:51.205" v="4" actId="27636"/>
        <pc:sldMkLst>
          <pc:docMk/>
          <pc:sldMk cId="0" sldId="271"/>
        </pc:sldMkLst>
        <pc:spChg chg="mod">
          <ac:chgData name="Richard Wilson" userId="3ecb67d9-42dd-467e-959f-f623d5b72f7a" providerId="ADAL" clId="{5E72509D-1C6B-49EB-8D26-ED97B37C2622}" dt="2025-11-25T21:06:51.205" v="4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Richard Wilson" userId="3ecb67d9-42dd-467e-959f-f623d5b72f7a" providerId="ADAL" clId="{5E72509D-1C6B-49EB-8D26-ED97B37C2622}" dt="2025-11-25T21:06:51.214" v="5" actId="27636"/>
        <pc:sldMkLst>
          <pc:docMk/>
          <pc:sldMk cId="0" sldId="273"/>
        </pc:sldMkLst>
        <pc:spChg chg="mod">
          <ac:chgData name="Richard Wilson" userId="3ecb67d9-42dd-467e-959f-f623d5b72f7a" providerId="ADAL" clId="{5E72509D-1C6B-49EB-8D26-ED97B37C2622}" dt="2025-11-25T21:06:51.214" v="5" actId="2763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Richard Wilson" userId="3ecb67d9-42dd-467e-959f-f623d5b72f7a" providerId="ADAL" clId="{5E72509D-1C6B-49EB-8D26-ED97B37C2622}" dt="2025-11-25T21:06:51.219" v="6" actId="27636"/>
        <pc:sldMkLst>
          <pc:docMk/>
          <pc:sldMk cId="0" sldId="274"/>
        </pc:sldMkLst>
        <pc:spChg chg="mod">
          <ac:chgData name="Richard Wilson" userId="3ecb67d9-42dd-467e-959f-f623d5b72f7a" providerId="ADAL" clId="{5E72509D-1C6B-49EB-8D26-ED97B37C2622}" dt="2025-11-25T21:06:51.219" v="6" actId="2763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Richard Wilson" userId="3ecb67d9-42dd-467e-959f-f623d5b72f7a" providerId="ADAL" clId="{5E72509D-1C6B-49EB-8D26-ED97B37C2622}" dt="2025-11-25T21:06:51.228" v="7" actId="27636"/>
        <pc:sldMkLst>
          <pc:docMk/>
          <pc:sldMk cId="1291884469" sldId="280"/>
        </pc:sldMkLst>
        <pc:spChg chg="mod">
          <ac:chgData name="Richard Wilson" userId="3ecb67d9-42dd-467e-959f-f623d5b72f7a" providerId="ADAL" clId="{5E72509D-1C6B-49EB-8D26-ED97B37C2622}" dt="2025-11-25T21:06:51.228" v="7" actId="27636"/>
          <ac:spMkLst>
            <pc:docMk/>
            <pc:sldMk cId="1291884469" sldId="280"/>
            <ac:spMk id="3" creationId="{6D1901C5-080A-1FEA-4930-F26D6C6803D7}"/>
          </ac:spMkLst>
        </pc:spChg>
      </pc:sldChg>
      <pc:sldChg chg="modSp add mod">
        <pc:chgData name="Richard Wilson" userId="3ecb67d9-42dd-467e-959f-f623d5b72f7a" providerId="ADAL" clId="{5E72509D-1C6B-49EB-8D26-ED97B37C2622}" dt="2025-11-25T21:06:51.169" v="2" actId="27636"/>
        <pc:sldMkLst>
          <pc:docMk/>
          <pc:sldMk cId="0" sldId="281"/>
        </pc:sldMkLst>
        <pc:spChg chg="mod">
          <ac:chgData name="Richard Wilson" userId="3ecb67d9-42dd-467e-959f-f623d5b72f7a" providerId="ADAL" clId="{5E72509D-1C6B-49EB-8D26-ED97B37C2622}" dt="2025-11-25T21:06:51.150" v="1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Richard Wilson" userId="3ecb67d9-42dd-467e-959f-f623d5b72f7a" providerId="ADAL" clId="{5E72509D-1C6B-49EB-8D26-ED97B37C2622}" dt="2025-11-25T21:06:51.169" v="2" actId="27636"/>
          <ac:spMkLst>
            <pc:docMk/>
            <pc:sldMk cId="0" sldId="28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Canonical Ingredient Data: Why &amp; 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535E6E"/>
                </a:solidFill>
                <a:latin typeface="Inter"/>
              </a:rPr>
              <a:t>Building a single source of truth for recipe ingredients across Imperial &amp;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09728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4CBF-6ED3-E77F-661B-1C29A43E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E614-A012-1135-C904-8FD23BE22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435" y="1000872"/>
            <a:ext cx="7772400" cy="1470025"/>
          </a:xfrm>
        </p:spPr>
        <p:txBody>
          <a:bodyPr/>
          <a:lstStyle/>
          <a:p>
            <a:r>
              <a:rPr lang="en-US" sz="4000" dirty="0">
                <a:solidFill>
                  <a:srgbClr val="0F172A"/>
                </a:solidFill>
                <a:latin typeface="Montserrat"/>
              </a:rPr>
              <a:t>Purpose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901C5-080A-1FEA-4930-F26D6C680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747" y="2776818"/>
            <a:ext cx="6400800" cy="17526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535E6E"/>
                </a:solidFill>
                <a:latin typeface="Inter"/>
              </a:rPr>
              <a:t>We’re moving from storing ingredients in both Imperial and Metric to a 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single canonical record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 in SI (g, mL, or </a:t>
            </a:r>
            <a:r>
              <a:rPr lang="en-US" sz="2000" dirty="0" err="1">
                <a:solidFill>
                  <a:srgbClr val="535E6E"/>
                </a:solidFill>
                <a:latin typeface="Inter"/>
              </a:rPr>
              <a:t>ea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) and generating all displays via deterministic conversions.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  <p:extLst>
      <p:ext uri="{BB962C8B-B14F-4D97-AF65-F5344CB8AC3E}">
        <p14:creationId xmlns:p14="http://schemas.microsoft.com/office/powerpoint/2010/main" val="129188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Why are we changing?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Problems with duplicating Standard + Metric in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535E6E"/>
                </a:solidFill>
                <a:latin typeface="Inter"/>
              </a:rPr>
              <a:t>Data drift: two sources to keep in sync → silent inconsistencies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Precision loss: arbitrary rounding per-recipe; no clear provenance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Maintenance cost: schema, QA doubled for each unit system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Limited scalability: adding new locales/units multiplies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Benefits of a canonical SI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535E6E"/>
                </a:solidFill>
                <a:latin typeface="Inter"/>
              </a:rPr>
              <a:t>Accuracy: one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canonical_qty</a:t>
            </a:r>
            <a:r>
              <a:rPr sz="2000" dirty="0">
                <a:solidFill>
                  <a:srgbClr val="535E6E"/>
                </a:solidFill>
                <a:latin typeface="Inter"/>
              </a:rPr>
              <a:t> (+ min/max) in SI; deterministic conversions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Auditability: unit constants + densities with source</a:t>
            </a:r>
            <a:endParaRPr lang="en-US" dirty="0"/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Performance: compute once, render many (per-locale display)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Scalability: add new locales/units without touching stored data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Developer velocity: simpler API &amp; fewer edge cases to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What we’ll store (at a glance)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Core canonical fields per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535E6E"/>
                </a:solidFill>
                <a:latin typeface="Inter"/>
              </a:rPr>
              <a:t>Quantities</a:t>
            </a:r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canonical_qty_min</a:t>
            </a:r>
            <a:endParaRPr sz="2000" dirty="0"/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canonical_qty_max</a:t>
            </a:r>
            <a:endParaRPr sz="2000" dirty="0"/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canonical_qty</a:t>
            </a:r>
            <a:r>
              <a:rPr sz="2000" dirty="0">
                <a:solidFill>
                  <a:srgbClr val="535E6E"/>
                </a:solidFill>
                <a:latin typeface="Inter"/>
              </a:rPr>
              <a:t> (midpoint policy)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Unit</a:t>
            </a:r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canonical_unit</a:t>
            </a:r>
            <a:r>
              <a:rPr sz="2000" dirty="0">
                <a:solidFill>
                  <a:srgbClr val="535E6E"/>
                </a:solidFill>
                <a:latin typeface="Inter"/>
              </a:rPr>
              <a:t> ∈ {g, mL,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ea</a:t>
            </a:r>
            <a:r>
              <a:rPr sz="2000" dirty="0">
                <a:solidFill>
                  <a:srgbClr val="535E6E"/>
                </a:solidFill>
                <a:latin typeface="Inter"/>
              </a:rPr>
              <a:t>}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Provenance</a:t>
            </a:r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conversion_path</a:t>
            </a:r>
            <a:endParaRPr sz="2000" dirty="0"/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density_id</a:t>
            </a:r>
            <a:r>
              <a:rPr sz="2000" dirty="0">
                <a:solidFill>
                  <a:srgbClr val="535E6E"/>
                </a:solidFill>
                <a:latin typeface="Inter"/>
              </a:rPr>
              <a:t> /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density_g_per_ml</a:t>
            </a:r>
            <a:r>
              <a:rPr sz="2000" dirty="0">
                <a:solidFill>
                  <a:srgbClr val="535E6E"/>
                </a:solidFill>
                <a:latin typeface="Inter"/>
              </a:rPr>
              <a:t> (if used)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Safeguards</a:t>
            </a:r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flags like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flag_needs_density_lookup</a:t>
            </a:r>
            <a:r>
              <a:rPr sz="2000" dirty="0">
                <a:solidFill>
                  <a:srgbClr val="535E6E"/>
                </a:solidFill>
                <a:latin typeface="Inter"/>
              </a:rPr>
              <a:t>; warnings for sanity/packing/temp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Store in SI once (g, mL, or ea). Convert for display at the 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Data tables overview &amp; 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Authoritative catalogs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535E6E"/>
                </a:solidFill>
                <a:latin typeface="Inter"/>
              </a:rPr>
              <a:t>Ingredient Table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 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(</a:t>
            </a:r>
            <a:r>
              <a:rPr lang="en-US" sz="2000" b="1" dirty="0" err="1">
                <a:solidFill>
                  <a:srgbClr val="535E6E"/>
                </a:solidFill>
                <a:latin typeface="Inter"/>
              </a:rPr>
              <a:t>Ingredient_Table_Populated_Master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 251105)</a:t>
            </a:r>
            <a:endParaRPr sz="1900" b="1" dirty="0"/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Identity + aliases + category +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default_form_id</a:t>
            </a:r>
            <a:endParaRPr dirty="0"/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Form Table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 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(</a:t>
            </a:r>
            <a:r>
              <a:rPr lang="en-US" sz="2000" b="1" dirty="0" err="1">
                <a:solidFill>
                  <a:srgbClr val="535E6E"/>
                </a:solidFill>
                <a:latin typeface="Inter"/>
              </a:rPr>
              <a:t>Form_Table_Populated_Complete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)</a:t>
            </a:r>
            <a:endParaRPr sz="1600" b="1" dirty="0"/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Form vocabulary,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target_dimension</a:t>
            </a:r>
            <a:r>
              <a:rPr sz="2000" dirty="0">
                <a:solidFill>
                  <a:srgbClr val="535E6E"/>
                </a:solidFill>
                <a:latin typeface="Inter"/>
              </a:rPr>
              <a:t> (g/mL/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ea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)</a:t>
            </a:r>
            <a:endParaRPr dirty="0"/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Density Table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 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(</a:t>
            </a:r>
            <a:r>
              <a:rPr lang="en-US" sz="2000" b="1" dirty="0" err="1">
                <a:solidFill>
                  <a:srgbClr val="535E6E"/>
                </a:solidFill>
                <a:latin typeface="Inter"/>
              </a:rPr>
              <a:t>Density_Table_Populated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 - Final 251125)</a:t>
            </a:r>
            <a:endParaRPr sz="1600" b="1" dirty="0"/>
          </a:p>
          <a:p>
            <a:pPr lvl="1"/>
            <a:r>
              <a:rPr sz="2000" dirty="0" err="1">
                <a:solidFill>
                  <a:srgbClr val="535E6E"/>
                </a:solidFill>
                <a:latin typeface="Inter"/>
              </a:rPr>
              <a:t>g_per_mL</a:t>
            </a:r>
            <a:r>
              <a:rPr sz="2000" dirty="0">
                <a:solidFill>
                  <a:srgbClr val="535E6E"/>
                </a:solidFill>
                <a:latin typeface="Inter"/>
              </a:rPr>
              <a:t> per (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ingredient_id</a:t>
            </a:r>
            <a:r>
              <a:rPr sz="2000" dirty="0">
                <a:solidFill>
                  <a:srgbClr val="535E6E"/>
                </a:solidFill>
                <a:latin typeface="Inter"/>
              </a:rPr>
              <a:t>,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form_id</a:t>
            </a:r>
            <a:r>
              <a:rPr sz="2000" dirty="0">
                <a:solidFill>
                  <a:srgbClr val="535E6E"/>
                </a:solidFill>
                <a:latin typeface="Inter"/>
              </a:rPr>
              <a:t>) with provenance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Unit &amp; Conversion Table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 </a:t>
            </a:r>
            <a:r>
              <a:rPr lang="en-US" sz="2000" b="1" dirty="0">
                <a:solidFill>
                  <a:srgbClr val="535E6E"/>
                </a:solidFill>
                <a:latin typeface="Inter"/>
              </a:rPr>
              <a:t>(</a:t>
            </a:r>
            <a:r>
              <a:rPr lang="fr-FR" sz="2000" b="1" dirty="0" err="1">
                <a:solidFill>
                  <a:srgbClr val="535E6E"/>
                </a:solidFill>
                <a:latin typeface="Inter"/>
              </a:rPr>
              <a:t>Unit_Conversion_Constants_Table_Populated</a:t>
            </a:r>
            <a:r>
              <a:rPr lang="fr-FR" sz="2000" b="1" dirty="0">
                <a:solidFill>
                  <a:srgbClr val="535E6E"/>
                </a:solidFill>
                <a:latin typeface="Inter"/>
              </a:rPr>
              <a:t>)</a:t>
            </a:r>
            <a:endParaRPr sz="1600" b="1" dirty="0"/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Exact constants (e.g.,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TBSP→mL</a:t>
            </a:r>
            <a:r>
              <a:rPr sz="2000" dirty="0">
                <a:solidFill>
                  <a:srgbClr val="535E6E"/>
                </a:solidFill>
                <a:latin typeface="Inter"/>
              </a:rPr>
              <a:t>,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OZ→g</a:t>
            </a:r>
            <a:r>
              <a:rPr sz="2000" dirty="0">
                <a:solidFill>
                  <a:srgbClr val="535E6E"/>
                </a:solidFill>
                <a:latin typeface="Inter"/>
              </a:rPr>
              <a:t>)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Localization Table</a:t>
            </a:r>
            <a:r>
              <a:rPr lang="en-US" sz="2000" dirty="0">
                <a:solidFill>
                  <a:srgbClr val="535E6E"/>
                </a:solidFill>
                <a:latin typeface="Inter"/>
              </a:rPr>
              <a:t> (to be provided)</a:t>
            </a:r>
            <a:endParaRPr dirty="0"/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Per-locale names/labels for ingredient + unit display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Operational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Recipe Ingredient Table (Stage-2 working)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Holds parsed Stage-1 fields + normalized/linking results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Stores canonical_qty_min/max, canonical_qty, canonical_unit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Review Queue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Low-confidence links, missing densities, or unresolved units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High-level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Recipe Ingredient → Ingredient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via ingredient_id (after deterministic linking)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Ingredient → Form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default_form_id, plus resolved_form_id per line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Ingredient + Form → Density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density lookup for vol↔mass bridges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Unit &amp; Conversion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used by math—not embedded directly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Processing pipeline (tools to build)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Stage 1 vs Stage 2 —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2000" b="1">
                <a:solidFill>
                  <a:srgbClr val="535E6E"/>
                </a:solidFill>
                <a:latin typeface="Inter"/>
              </a:rPr>
              <a:t>Stage 1 — LLM-assisted extraction (no math)</a:t>
            </a:r>
          </a:p>
          <a:p>
            <a:pPr lvl="1"/>
            <a:r>
              <a:t>Parse ingredient lines from the recipe sheet into structured raw fields (e.g., recipe_id, ingredient_line_number, ingredient_original_text, qty_value_original, unit_original).</a:t>
            </a:r>
          </a:p>
          <a:p>
            <a:pPr lvl="1"/>
            <a:r>
              <a:t>Capture contextual text only (modifiers_raw, form_hint_raw, package_size_raw, size_descriptor_raw, quantity_note_raw).</a:t>
            </a:r>
          </a:p>
          <a:p>
            <a:pPr lvl="1"/>
            <a:r>
              <a:t>No conversions, no density/lookup, no guessing—just clean, lossless capture with numbering/idempotency rules.</a:t>
            </a:r>
          </a:p>
          <a:p>
            <a:endParaRPr/>
          </a:p>
          <a:p>
            <a:r>
              <a:rPr b="1"/>
              <a:t>Stage 2 — Deterministic normalization &amp; canonical SI</a:t>
            </a:r>
          </a:p>
          <a:p>
            <a:pPr lvl="1"/>
            <a:r>
              <a:t>Quantity parsing → Unit normalization → Package parsing → Ingredient linking → Form resolution → Canonical dimension selection → Density lookup → Deterministic SI conversion.</a:t>
            </a:r>
          </a:p>
          <a:p>
            <a:pPr lvl="1"/>
            <a:r>
              <a:t>Outputs: canonical_qty_min, canonical_qty_max, canonical_qty, canonical_unit; provenance via conversion_path, density_id/density_g_per_ml; flags for missing density or nonstandard units.</a:t>
            </a:r>
          </a:p>
          <a:p>
            <a:pPr lvl="1"/>
            <a:r>
              <a:t>Policy: no piece‑weight conversion; no container count→content. Counts remain in each (ea); display conversion happens at the 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Order of operations (Stage‑2)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1) Intake &amp; Validation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Normalize, validate, idempotent upsert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2) Quantity parsing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Lossless → numeric: qty_min/qty_max (+ approx)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3) Unit normalization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unit_original → unit_enum; infer original_dimension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4) Package &amp; Variant parsing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Extract package_size_raw &amp; multipliers (no count→content)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5) Ingredient linking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Deterministic exact/alias/normalized/fuzzy with thresholds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6) Form resolution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Tokens &amp; defaults → resolved_form_id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7) Canonical dimension selection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Decide canonical_unit ∈ {g, mL, ea}; select bridge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8) Bridging data lookup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Pick density (g/mL) deterministically, or flag missing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9) Deterministic conversion to SI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Compute canonical_qty_min/max &amp; canonical_qty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What we are NOT doing (now)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No piece‑weight conversions for small pieces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No container count→content conversions (cans→grams)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No LLM in Stage‑2 (only deterministic rules/lookup)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Why this is best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Single source of truth: SI canonicalization displaces dual-storage drift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Determinism over heuristics: math from constants &amp; curated densities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Separation of concerns: parse → normalize → link → resolve → decide → compute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Extensibility: add forms, aliases, densities without code changes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Observability: warnings/flags, selection paths, and metrics for curation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Developer scope &amp; deliverables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Build these modules (libraries/services)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rgbClr val="535E6E"/>
                </a:solidFill>
                <a:latin typeface="Inter"/>
              </a:rPr>
              <a:t>Parsing/Normalization SDK</a:t>
            </a:r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Quantity, Unit, Package parsers with unit tests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Linking Engine</a:t>
            </a:r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Deterministic matcher with alias/primary dictionaries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Form Resolver</a:t>
            </a:r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Token →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form_id</a:t>
            </a:r>
            <a:r>
              <a:rPr sz="2000" dirty="0">
                <a:solidFill>
                  <a:srgbClr val="535E6E"/>
                </a:solidFill>
                <a:latin typeface="Inter"/>
              </a:rPr>
              <a:t> with override tables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Bridge Lookup</a:t>
            </a:r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Density selector with provenance &amp; sanity checks</a:t>
            </a:r>
          </a:p>
          <a:p>
            <a:r>
              <a:rPr sz="2000" dirty="0">
                <a:solidFill>
                  <a:srgbClr val="535E6E"/>
                </a:solidFill>
                <a:latin typeface="Inter"/>
              </a:rPr>
              <a:t>SI Converter</a:t>
            </a:r>
          </a:p>
          <a:p>
            <a:pPr lvl="1"/>
            <a:r>
              <a:rPr sz="2000" dirty="0">
                <a:solidFill>
                  <a:srgbClr val="535E6E"/>
                </a:solidFill>
                <a:latin typeface="Inter"/>
              </a:rPr>
              <a:t>Deterministic math to </a:t>
            </a:r>
            <a:r>
              <a:rPr sz="2000" dirty="0" err="1">
                <a:solidFill>
                  <a:srgbClr val="535E6E"/>
                </a:solidFill>
                <a:latin typeface="Inter"/>
              </a:rPr>
              <a:t>canonical_qty</a:t>
            </a:r>
            <a:r>
              <a:rPr sz="2000" dirty="0">
                <a:solidFill>
                  <a:srgbClr val="535E6E"/>
                </a:solidFill>
                <a:latin typeface="Inter"/>
              </a:rPr>
              <a:t>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Data &amp; config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Tables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Ingredient, Form, Density, Unit &amp; Conversion, Localization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Configs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Unit synonym map, meaning-carrying tokens, form signal rules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Metrics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Coverage (densities/aliases), error rates, unresolved queues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Rollout &amp; success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Rollout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Phase 1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Backfill: run pipeline on a representative sample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Phase 2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Full backfill: all recipes; curate unresolved &amp; missing densities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Phase 3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Switch read‑paths to canonical; enable locale‑aware display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>
                <a:solidFill>
                  <a:srgbClr val="0F172A"/>
                </a:solidFill>
                <a:latin typeface="Montserrat"/>
              </a:rPr>
              <a:t>Appendix: Key field names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63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F172A"/>
                </a:solidFill>
                <a:latin typeface="Montserrat"/>
              </a:rPr>
              <a:t>Canonical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535E6E"/>
                </a:solidFill>
                <a:latin typeface="Inter"/>
              </a:rPr>
              <a:t>Quantities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canonical_qty_min, canonical_qty_max, canonical_qty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Unit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canonical_unit (g|mL|ea)</a:t>
            </a:r>
          </a:p>
          <a:p>
            <a:r>
              <a:rPr sz="2000">
                <a:solidFill>
                  <a:srgbClr val="535E6E"/>
                </a:solidFill>
                <a:latin typeface="Inter"/>
              </a:rPr>
              <a:t>Density</a:t>
            </a:r>
          </a:p>
          <a:p>
            <a:pPr lvl="1"/>
            <a:r>
              <a:rPr sz="2000">
                <a:solidFill>
                  <a:srgbClr val="535E6E"/>
                </a:solidFill>
                <a:latin typeface="Inter"/>
              </a:rPr>
              <a:t>density_id, density_g_per_ml (if bridge used)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7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OS logo for App 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57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35E6E"/>
                </a:solidFill>
                <a:latin typeface="Inter"/>
              </a:rPr>
              <a:t>N U T R I L I 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90a2db-83cf-48ff-a13c-0a6abe55b343" xsi:nil="true"/>
    <lcf76f155ced4ddcb4097134ff3c332f xmlns="a6a9de54-df33-4076-8dbd-6da6e7b9eca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6CCB68902A04FAEAF7387086E1B50" ma:contentTypeVersion="12" ma:contentTypeDescription="Create a new document." ma:contentTypeScope="" ma:versionID="8fc4f66997fa95ff7f909ccd46ad57af">
  <xsd:schema xmlns:xsd="http://www.w3.org/2001/XMLSchema" xmlns:xs="http://www.w3.org/2001/XMLSchema" xmlns:p="http://schemas.microsoft.com/office/2006/metadata/properties" xmlns:ns2="a6a9de54-df33-4076-8dbd-6da6e7b9eca7" xmlns:ns3="0590a2db-83cf-48ff-a13c-0a6abe55b343" targetNamespace="http://schemas.microsoft.com/office/2006/metadata/properties" ma:root="true" ma:fieldsID="5b39e0e2c2d7fcc1db7805d64c540bb0" ns2:_="" ns3:_="">
    <xsd:import namespace="a6a9de54-df33-4076-8dbd-6da6e7b9eca7"/>
    <xsd:import namespace="0590a2db-83cf-48ff-a13c-0a6abe55b34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a9de54-df33-4076-8dbd-6da6e7b9eca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9e4e1f7-ee71-4531-847d-a8303ea248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90a2db-83cf-48ff-a13c-0a6abe55b34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0301f28-795a-49f7-8784-8e4f853c39a8}" ma:internalName="TaxCatchAll" ma:showField="CatchAllData" ma:web="0590a2db-83cf-48ff-a13c-0a6abe55b3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4B1767-7A7E-41C0-87E8-A7F9D0B10AA8}">
  <ds:schemaRefs>
    <ds:schemaRef ds:uri="http://schemas.microsoft.com/office/2006/metadata/properties"/>
    <ds:schemaRef ds:uri="http://schemas.microsoft.com/office/infopath/2007/PartnerControls"/>
    <ds:schemaRef ds:uri="0590a2db-83cf-48ff-a13c-0a6abe55b343"/>
    <ds:schemaRef ds:uri="a6a9de54-df33-4076-8dbd-6da6e7b9eca7"/>
  </ds:schemaRefs>
</ds:datastoreItem>
</file>

<file path=customXml/itemProps2.xml><?xml version="1.0" encoding="utf-8"?>
<ds:datastoreItem xmlns:ds="http://schemas.openxmlformats.org/officeDocument/2006/customXml" ds:itemID="{DEEB8708-E4DC-4353-9765-84D6D569B3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856F6-BFE8-456B-B6AF-7E1DDDD7DB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a9de54-df33-4076-8dbd-6da6e7b9eca7"/>
    <ds:schemaRef ds:uri="0590a2db-83cf-48ff-a13c-0a6abe55b3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1385</Words>
  <Application>Microsoft Office PowerPoint</Application>
  <PresentationFormat>On-screen Show (4:3)</PresentationFormat>
  <Paragraphs>158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Inter</vt:lpstr>
      <vt:lpstr>Montserrat</vt:lpstr>
      <vt:lpstr>Office Theme</vt:lpstr>
      <vt:lpstr>Canonical Ingredient Data: Why &amp; How</vt:lpstr>
      <vt:lpstr>Purpose</vt:lpstr>
      <vt:lpstr>Why are we changing?</vt:lpstr>
      <vt:lpstr>Problems with duplicating Standard + Metric in storage</vt:lpstr>
      <vt:lpstr>Benefits of a canonical SI scheme</vt:lpstr>
      <vt:lpstr>What we’ll store (at a glance)</vt:lpstr>
      <vt:lpstr>Core canonical fields per line</vt:lpstr>
      <vt:lpstr>Key principle</vt:lpstr>
      <vt:lpstr>Data tables overview &amp; relationships</vt:lpstr>
      <vt:lpstr>Authoritative catalogs</vt:lpstr>
      <vt:lpstr>Operational tables</vt:lpstr>
      <vt:lpstr>High-level relationships</vt:lpstr>
      <vt:lpstr>Processing pipeline (tools to build)</vt:lpstr>
      <vt:lpstr>Stage 1 vs Stage 2 — At a Glance</vt:lpstr>
      <vt:lpstr>Order of operations (Stage‑2)</vt:lpstr>
      <vt:lpstr>What we are NOT doing (now)</vt:lpstr>
      <vt:lpstr>Why this is best practice</vt:lpstr>
      <vt:lpstr>Design principles</vt:lpstr>
      <vt:lpstr>Developer scope &amp; deliverables</vt:lpstr>
      <vt:lpstr>Build these modules (libraries/services)</vt:lpstr>
      <vt:lpstr>Data &amp; config needed</vt:lpstr>
      <vt:lpstr>Rollout &amp; success metrics</vt:lpstr>
      <vt:lpstr>Rollout plan</vt:lpstr>
      <vt:lpstr>Appendix: Key field names used</vt:lpstr>
      <vt:lpstr>Canonical outputs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Richard Wilson</cp:lastModifiedBy>
  <cp:revision>2</cp:revision>
  <dcterms:created xsi:type="dcterms:W3CDTF">2013-01-27T09:14:16Z</dcterms:created>
  <dcterms:modified xsi:type="dcterms:W3CDTF">2025-11-25T21:06:54Z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0x0101003676CCB68902A04FAEAF7387086E1B50</vt:lpwstr>
  </property>
</Properties>
</file>